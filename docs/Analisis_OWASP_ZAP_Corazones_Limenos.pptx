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31532dc5514041" /><Relationship Type="http://schemas.openxmlformats.org/officeDocument/2006/relationships/extended-properties" Target="/docProps/app.xml" Id="R57cb6eb8a426462c" /><Relationship Type="http://schemas.openxmlformats.org/officeDocument/2006/relationships/officeDocument" Target="/ppt/presentation.xml" Id="R702be6aa2a914b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c8bbdd75804ed9"/>
  </p:sldMasterIdLst>
  <p:notesMasterIdLst>
    <p:notesMasterId xmlns:r="http://schemas.openxmlformats.org/officeDocument/2006/relationships" r:id="R85337a120933495b"/>
  </p:notesMasterIdLst>
  <p:sldIdLst>
    <p:sldId xmlns:r="http://schemas.openxmlformats.org/officeDocument/2006/relationships" id="256" r:id="R9af21a4561554626"/>
    <p:sldId xmlns:r="http://schemas.openxmlformats.org/officeDocument/2006/relationships" id="257" r:id="R60ba84d204e143c8"/>
    <p:sldId xmlns:r="http://schemas.openxmlformats.org/officeDocument/2006/relationships" id="258" r:id="R9f160f6a93984a43"/>
    <p:sldId xmlns:r="http://schemas.openxmlformats.org/officeDocument/2006/relationships" id="259" r:id="R5dd10f6286d04110"/>
    <p:sldId xmlns:r="http://schemas.openxmlformats.org/officeDocument/2006/relationships" id="260" r:id="R571c89865f344049"/>
    <p:sldId xmlns:r="http://schemas.openxmlformats.org/officeDocument/2006/relationships" id="261" r:id="Rd0c39da8ba314ace"/>
    <p:sldId xmlns:r="http://schemas.openxmlformats.org/officeDocument/2006/relationships" id="262" r:id="R206d5962c4c5448e"/>
    <p:sldId xmlns:r="http://schemas.openxmlformats.org/officeDocument/2006/relationships" id="263" r:id="R3f7693e151164e6e"/>
    <p:sldId xmlns:r="http://schemas.openxmlformats.org/officeDocument/2006/relationships" id="264" r:id="Ra75d87a60635435e"/>
    <p:sldId xmlns:r="http://schemas.openxmlformats.org/officeDocument/2006/relationships" id="265" r:id="R102a52061dd042c8"/>
    <p:sldId xmlns:r="http://schemas.openxmlformats.org/officeDocument/2006/relationships" id="266" r:id="R4a9d10500e64427e"/>
    <p:sldId xmlns:r="http://schemas.openxmlformats.org/officeDocument/2006/relationships" id="267" r:id="Re5cfe19d404c46ca"/>
    <p:sldId xmlns:r="http://schemas.openxmlformats.org/officeDocument/2006/relationships" id="268" r:id="R4146b916b6b14a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8f29f27be04306" /><Relationship Type="http://schemas.openxmlformats.org/officeDocument/2006/relationships/slideMaster" Target="/ppt/slideMasters/slideMaster1.xml" Id="Rb9c8bbdd75804ed9" /><Relationship Type="http://schemas.openxmlformats.org/officeDocument/2006/relationships/notesMaster" Target="/ppt/notesMasters/notesMaster1.xml" Id="R85337a120933495b" /><Relationship Type="http://schemas.openxmlformats.org/officeDocument/2006/relationships/presProps" Target="/ppt/presProps.xml" Id="R9a0f742af001423b" /><Relationship Type="http://schemas.openxmlformats.org/officeDocument/2006/relationships/tableStyles" Target="/ppt/tableStyles.xml" Id="R611e486cdaa64558" /><Relationship Type="http://schemas.openxmlformats.org/officeDocument/2006/relationships/slide" Target="/ppt/slides/slide1.xml" Id="R9af21a4561554626" /><Relationship Type="http://schemas.openxmlformats.org/officeDocument/2006/relationships/slide" Target="/ppt/slides/slide2.xml" Id="R60ba84d204e143c8" /><Relationship Type="http://schemas.openxmlformats.org/officeDocument/2006/relationships/slide" Target="/ppt/slides/slide3.xml" Id="R9f160f6a93984a43" /><Relationship Type="http://schemas.openxmlformats.org/officeDocument/2006/relationships/slide" Target="/ppt/slides/slide4.xml" Id="R5dd10f6286d04110" /><Relationship Type="http://schemas.openxmlformats.org/officeDocument/2006/relationships/slide" Target="/ppt/slides/slide5.xml" Id="R571c89865f344049" /><Relationship Type="http://schemas.openxmlformats.org/officeDocument/2006/relationships/slide" Target="/ppt/slides/slide6.xml" Id="Rd0c39da8ba314ace" /><Relationship Type="http://schemas.openxmlformats.org/officeDocument/2006/relationships/slide" Target="/ppt/slides/slide7.xml" Id="R206d5962c4c5448e" /><Relationship Type="http://schemas.openxmlformats.org/officeDocument/2006/relationships/slide" Target="/ppt/slides/slide8.xml" Id="R3f7693e151164e6e" /><Relationship Type="http://schemas.openxmlformats.org/officeDocument/2006/relationships/slide" Target="/ppt/slides/slide9.xml" Id="Ra75d87a60635435e" /><Relationship Type="http://schemas.openxmlformats.org/officeDocument/2006/relationships/slide" Target="/ppt/slides/slide10.xml" Id="R102a52061dd042c8" /><Relationship Type="http://schemas.openxmlformats.org/officeDocument/2006/relationships/slide" Target="/ppt/slides/slide11.xml" Id="R4a9d10500e64427e" /><Relationship Type="http://schemas.openxmlformats.org/officeDocument/2006/relationships/slide" Target="/ppt/slides/slide12.xml" Id="Re5cfe19d404c46ca" /><Relationship Type="http://schemas.openxmlformats.org/officeDocument/2006/relationships/slide" Target="/ppt/slides/slide13.xml" Id="R4146b916b6b14a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39f35b640d45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81afc8015b41ca" /><Relationship Type="http://schemas.openxmlformats.org/officeDocument/2006/relationships/notesMaster" Target="/ppt/notesMasters/notesMaster1.xml" Id="R957fb86bdb554e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63a2dd254e47f7" /><Relationship Type="http://schemas.openxmlformats.org/officeDocument/2006/relationships/notesMaster" Target="/ppt/notesMasters/notesMaster1.xml" Id="Rb2db0d94f2fc41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b96fee6e3e4c1a" /><Relationship Type="http://schemas.openxmlformats.org/officeDocument/2006/relationships/notesMaster" Target="/ppt/notesMasters/notesMaster1.xml" Id="R7679fb3d91654e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12c00d1de141b4" /><Relationship Type="http://schemas.openxmlformats.org/officeDocument/2006/relationships/notesMaster" Target="/ppt/notesMasters/notesMaster1.xml" Id="Rd7d643efec2145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ccaaf9def04142" /><Relationship Type="http://schemas.openxmlformats.org/officeDocument/2006/relationships/notesMaster" Target="/ppt/notesMasters/notesMaster1.xml" Id="Rc10570c35d624b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730f6b2f0944b4" /><Relationship Type="http://schemas.openxmlformats.org/officeDocument/2006/relationships/notesMaster" Target="/ppt/notesMasters/notesMaster1.xml" Id="Ra0da4c376ef54a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1ec76a77724cf4" /><Relationship Type="http://schemas.openxmlformats.org/officeDocument/2006/relationships/notesMaster" Target="/ppt/notesMasters/notesMaster1.xml" Id="R5c6cad74bba94c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62a079dfc74e1b" /><Relationship Type="http://schemas.openxmlformats.org/officeDocument/2006/relationships/notesMaster" Target="/ppt/notesMasters/notesMaster1.xml" Id="Raedcb7e3310c4b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8646fbc2ab4eca" /><Relationship Type="http://schemas.openxmlformats.org/officeDocument/2006/relationships/notesMaster" Target="/ppt/notesMasters/notesMaster1.xml" Id="R9e1acc6619474b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89e5bf9d4e40e8" /><Relationship Type="http://schemas.openxmlformats.org/officeDocument/2006/relationships/notesMaster" Target="/ppt/notesMasters/notesMaster1.xml" Id="Rce8a1fe1bfb74b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19d3ff35be46c3" /><Relationship Type="http://schemas.openxmlformats.org/officeDocument/2006/relationships/notesMaster" Target="/ppt/notesMasters/notesMaster1.xml" Id="R033e71e3694d4e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00c4ce22854297" /><Relationship Type="http://schemas.openxmlformats.org/officeDocument/2006/relationships/notesMaster" Target="/ppt/notesMasters/notesMaster1.xml" Id="Racdce7921c6c44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6fbc7435964a84" /><Relationship Type="http://schemas.openxmlformats.org/officeDocument/2006/relationships/notesMaster" Target="/ppt/notesMasters/notesMaster1.xml" Id="R47b01ae80e6546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objetivo es traducir el reporte de ZAP a riesgos concretos del sistema Corazones Limeños.</a:t>
            </a:r>
          </a:p>
          <a:p xmlns:a="http://schemas.openxmlformats.org/drawingml/2006/main">
            <a:r>
              <a:t>Fuente primaria: capturas del reporte ZAP 2.15.0 proporcionadas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Resultado observado: dos alertas de riesgo medio, una con confianza alta y otra con confianza media.</a:t>
            </a:r>
          </a:p>
          <a:p xmlns:a="http://schemas.openxmlformats.org/drawingml/2006/main">
            <a:r>
              <a:t>Las capturas indican que el informe filtró niveles High y Medium. Las etiquetas no equivalen a alertas independientes.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OWASP Top 10 es un documento de concientización; WSTG define pruebas; CWE describe debilidades; WASC clasifica amenazas web.</a:t>
            </a:r>
          </a:p>
          <a:p xmlns:a="http://schemas.openxmlformats.org/drawingml/2006/main">
            <a:r>
              <a:t>Fuente: https://top10.owasp.org/2021/</a:t>
            </a:r>
          </a:p>
          <a:p xmlns:a="http://schemas.openxmlformats.org/drawingml/2006/main">
            <a:r>
              <a:t>Fuente: https://wstg.owasp.org/latest/2-Introduction/</a:t>
            </a:r>
          </a:p>
          <a:p xmlns:a="http://schemas.openxmlformats.org/drawingml/2006/main">
            <a:r>
              <a:t>Fuente: https://cwe.mitre.org/</a:t>
            </a:r>
          </a:p>
          <a:p xmlns:a="http://schemas.openxmlformats.org/drawingml/2006/main">
            <a:r>
              <a:t>Fuente: https://projects.webappsec.org/w/page/13246914/Application%20Misconfiguration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alerta se relaciona con CWE-693 y con OWASP A05:2021 / A06:2017.</a:t>
            </a:r>
          </a:p>
          <a:p xmlns:a="http://schemas.openxmlformats.org/drawingml/2006/main">
            <a:r>
              <a:t>Impacto condicionado: CSP reduce el efecto de una inyección, pero la ausencia del encabezado no prueba que exista una inyección.</a:t>
            </a:r>
          </a:p>
          <a:p xmlns:a="http://schemas.openxmlformats.org/drawingml/2006/main">
            <a:r>
              <a:t>Fuente: https://cwe.mitre.org/data/definitions/693.html</a:t>
            </a:r>
          </a:p>
          <a:p xmlns:a="http://schemas.openxmlformats.org/drawingml/2006/main">
            <a:r>
              <a:t>Fuente: https://owasp.org/Top10/en/A05_2021-Security_Misconfiguration/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WSTG-v42-CLNT-09 describe la prueba de clickjacking mediante un iframe.</a:t>
            </a:r>
          </a:p>
          <a:p xmlns:a="http://schemas.openxmlformats.org/drawingml/2006/main">
            <a:r>
              <a:t>CWE-1021 identifica la causa técnica: la aplicación permite que otro origen represente sus capas de interfaz.</a:t>
            </a:r>
          </a:p>
          <a:p xmlns:a="http://schemas.openxmlformats.org/drawingml/2006/main">
            <a:r>
              <a:t>Fuente: https://wstg.owasp.org/v4.2/4-Web_Application_Security_Testing/11-Client-side_Testing/09-Testing_for_Clickjacking/</a:t>
            </a:r>
          </a:p>
          <a:p xmlns:a="http://schemas.openxmlformats.org/drawingml/2006/main">
            <a:r>
              <a:t>Fuente: https://cwe.mitre.org/data/definitions/1021.html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CWE-693 es un Pillar y MITRE desaconseja usarlo como mapeo específico cuando existe una debilidad más precisa.</a:t>
            </a:r>
          </a:p>
          <a:p xmlns:a="http://schemas.openxmlformats.org/drawingml/2006/main">
            <a:r>
              <a:t>Fuente: https://cwe.mitre.org/data/definitions/693.html</a:t>
            </a:r>
          </a:p>
          <a:p xmlns:a="http://schemas.openxmlformats.org/drawingml/2006/main">
            <a:r>
              <a:t>Fuente: https://cwe.mitre.org/data/definitions/1021.html</a:t>
            </a:r>
          </a:p>
          <a:p xmlns:a="http://schemas.openxmlformats.org/drawingml/2006/main">
            <a:r>
              <a:t>Fuente: https://cwe.mitre.org/data/definitions/200.html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A01:2021 exige controles de acceso en servidor; ocultar un botón o proteger solo una ruta Angular no es suficiente.</a:t>
            </a:r>
          </a:p>
          <a:p xmlns:a="http://schemas.openxmlformats.org/drawingml/2006/main">
            <a:r>
              <a:t>A05:2021 incluye cabeceras ausentes, configuraciones inseguras y errores excesivamente informativos.</a:t>
            </a:r>
          </a:p>
          <a:p xmlns:a="http://schemas.openxmlformats.org/drawingml/2006/main">
            <a:r>
              <a:t>Fuente: https://owasp.org/Top10/en/A01_2021-Broken_Access_Control/</a:t>
            </a:r>
          </a:p>
          <a:p xmlns:a="http://schemas.openxmlformats.org/drawingml/2006/main">
            <a:r>
              <a:t>Fuente: https://owasp.org/Top10/en/A05_2021-Security_Misconfiguration/</a:t>
            </a:r>
          </a:p>
          <a:p xmlns:a="http://schemas.openxmlformats.org/drawingml/2006/main">
            <a:r>
              <a:t>Fuente: https://owasp.org/www-project-top-ten/2017/A3_2017-Sensitive_Data_Exposure</a:t>
            </a:r>
          </a:p>
          <a:p xmlns:a="http://schemas.openxmlformats.org/drawingml/2006/main">
            <a:r>
              <a:t>Fuente: https://owasp.org/www-project-top-ten/2017/A6_2017-Security_Misconfiguration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https://wstg.owasp.org/v4.2/4-Web_Application_Security_Testing/11-Client-side_Testing/09-Testing_for_Clickjacking/</a:t>
            </a:r>
          </a:p>
          <a:p xmlns:a="http://schemas.openxmlformats.org/drawingml/2006/main">
            <a:r>
              <a:t>Fuente: https://wstg.owasp.org/latest/4-Web_Application_Security_Testing/08-Error_Handling/01-Improper_Error_Handling/</a:t>
            </a:r>
          </a:p>
          <a:p xmlns:a="http://schemas.openxmlformats.org/drawingml/2006/main">
            <a:r>
              <a:t>Fuente: https://wstg.owasp.org/v4.1/4-Web_Application_Security_Testing/08-Testing_for_Error_Handling/02-Testing_for_Stack_Traces/</a:t>
            </a:r>
          </a:p>
          <a:p xmlns:a="http://schemas.openxmlformats.org/drawingml/2006/main">
            <a:r>
              <a:t>Fuente: https://wstg.owasp.org/v4.2/4-Web_Application_Security_Testing/01-Information_Gathering/05-Review_Webpage_Content_for_Information_Leakage/</a:t>
            </a:r>
          </a:p>
          <a:p xmlns:a="http://schemas.openxmlformats.org/drawingml/2006/main">
            <a:r>
              <a:t>Fuente: https://wstg.owasp.org/v4.2/4-Web_Application_Security_Testing/01-Information_Gathering/08-Fingerprint_Web_Application_Framework/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cabecera no se corrige dentro de un componente Angular; debe enviarla el servidor HTTP que entrega index.html y los recursos.</a:t>
            </a:r>
          </a:p>
          <a:p xmlns:a="http://schemas.openxmlformats.org/drawingml/2006/main">
            <a:r>
              <a:t>Los controles de autorización deben residir también en la API porque el navegador puede modificarse.</a:t>
            </a:r>
          </a:p>
          <a:p xmlns:a="http://schemas.openxmlformats.org/drawingml/2006/main">
            <a:r>
              <a:t>Fuente: https://owasp.org/Top10/en/A01_2021-Broken_Access_Control/</a:t>
            </a:r>
          </a:p>
          <a:p xmlns:a="http://schemas.openxmlformats.org/drawingml/2006/main">
            <a:r>
              <a:t>Fuente: https://owasp.org/Top10/en/A05_2021-Security_Misconfiguration/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columna de estado resume la revisión del código del proyecto realizada junto con el reporte ZAP.</a:t>
            </a:r>
          </a:p>
          <a:p xmlns:a="http://schemas.openxmlformats.org/drawingml/2006/main">
            <a:r>
              <a:t>Un guard Angular mejora la experiencia, pero no reemplaza la autorización del servidor.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CSP debe comenzar en modo Report-Only si la aplicación utiliza recursos no inventariados; después se aplica como política obligatoria.</a:t>
            </a:r>
          </a:p>
          <a:p xmlns:a="http://schemas.openxmlformats.org/drawingml/2006/main">
            <a:r>
              <a:t>Para esta aplicación sin recursos externos, una política estricta es viable si la API se publica en el mismo origen o se declara en connect-src.</a:t>
            </a:r>
          </a:p>
          <a:p xmlns:a="http://schemas.openxmlformats.org/drawingml/2006/main">
            <a:r>
              <a:t>Fuente: https://owasp.org/Top10/en/A05_2021-Security_Misconfiguration/</a:t>
            </a:r>
          </a:p>
          <a:p xmlns:a="http://schemas.openxmlformats.org/drawingml/2006/main">
            <a:r>
              <a:t>Fuente: https://wstg.owasp.org/latest/4-Web_Application_Security_Testing/02-Configuration_and_Deployment_Management/14-Other_HTTP_Security_Header_Misconfigurations/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alerta desaparece solo si el escaneo se realiza sobre el servidor que realmente envía las nuevas cabeceras.</a:t>
            </a:r>
          </a:p>
          <a:p xmlns:a="http://schemas.openxmlformats.org/drawingml/2006/main">
            <a:r>
              <a:t>La prueba funcional evita aceptar una corrección que bloquee recursos legítimos de Angular o las conexiones con la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Enlaces completos utilizados en la presentación:</a:t>
            </a:r>
          </a:p>
          <a:p xmlns:a="http://schemas.openxmlformats.org/drawingml/2006/main">
            <a:r>
              <a:t>https://owasp.org/Top10/en/A01_2021-Broken_Access_Control/</a:t>
            </a:r>
          </a:p>
          <a:p xmlns:a="http://schemas.openxmlformats.org/drawingml/2006/main">
            <a:r>
              <a:t>https://owasp.org/Top10/en/A05_2021-Security_Misconfiguration/</a:t>
            </a:r>
          </a:p>
          <a:p xmlns:a="http://schemas.openxmlformats.org/drawingml/2006/main">
            <a:r>
              <a:t>https://wstg.owasp.org/v4.2/4-Web_Application_Security_Testing/11-Client-side_Testing/09-Testing_for_Clickjacking/</a:t>
            </a:r>
          </a:p>
          <a:p xmlns:a="http://schemas.openxmlformats.org/drawingml/2006/main">
            <a:r>
              <a:t>https://wstg.owasp.org/v4.2/4-Web_Application_Security_Testing/01-Information_Gathering/05-Review_Webpage_Content_for_Information_Leakage/</a:t>
            </a:r>
          </a:p>
          <a:p xmlns:a="http://schemas.openxmlformats.org/drawingml/2006/main">
            <a:r>
              <a:t>https://wstg.owasp.org/v4.2/4-Web_Application_Security_Testing/01-Information_Gathering/08-Fingerprint_Web_Application_Framework/</a:t>
            </a:r>
          </a:p>
          <a:p xmlns:a="http://schemas.openxmlformats.org/drawingml/2006/main">
            <a:r>
              <a:t>https://cwe.mitre.org/data/definitions/200.html</a:t>
            </a:r>
          </a:p>
          <a:p xmlns:a="http://schemas.openxmlformats.org/drawingml/2006/main">
            <a:r>
              <a:t>https://cwe.mitre.org/data/definitions/693.html</a:t>
            </a:r>
          </a:p>
          <a:p xmlns:a="http://schemas.openxmlformats.org/drawingml/2006/main">
            <a:r>
              <a:t>https://cwe.mitre.org/data/definitions/1021.html</a:t>
            </a:r>
          </a:p>
          <a:p xmlns:a="http://schemas.openxmlformats.org/drawingml/2006/main">
            <a:r>
              <a:t>https://projects.webappsec.org/w/page/13246914/Application%20Misconfiguration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ec51c094d42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795b1ddd9646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88f991c1cf4a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607d7ffc794f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0a1346052c41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32f24462148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EB3E82-776B-4C14-84B5-A27EE5D70D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29E9349-7554-4CF1-A7CE-018D771AD6E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5DBA16-19EA-4D69-A77D-B82598C69B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A37C9D-95CE-4D03-99F8-9F90097B88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DB3C4D-5F81-44D6-A43E-ECFBDDF49D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89AFCD-5150-4307-880C-55C4EE2DE0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44BE10-391E-433E-ADCD-DA47D495CC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4B74C68-B289-4314-8216-0019D8494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8AA21D-6FAA-41F0-93FA-5B2DAA85EE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760BB0-2A7D-4B6C-AE86-63B1CB0979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fff4f7210a4b15" /><Relationship Type="http://schemas.openxmlformats.org/officeDocument/2006/relationships/slideLayout" Target="/ppt/slideLayouts/slideLayout1.xml" Id="Rfb276df0334d466b" /><Relationship Type="http://schemas.openxmlformats.org/officeDocument/2006/relationships/slideLayout" Target="/ppt/slideLayouts/slideLayout2.xml" Id="R174cfb68b64c4910" /><Relationship Type="http://schemas.openxmlformats.org/officeDocument/2006/relationships/slideLayout" Target="/ppt/slideLayouts/slideLayout3.xml" Id="R1c8c59a0db0d433a" /><Relationship Type="http://schemas.openxmlformats.org/officeDocument/2006/relationships/slideLayout" Target="/ppt/slideLayouts/slideLayout4.xml" Id="R2dcc70f630f646e6" /><Relationship Type="http://schemas.openxmlformats.org/officeDocument/2006/relationships/slideLayout" Target="/ppt/slideLayouts/slideLayout5.xml" Id="R867024344ea74889" /><Relationship Type="http://schemas.openxmlformats.org/officeDocument/2006/relationships/slideLayout" Target="/ppt/slideLayouts/slideLayout6.xml" Id="R3bf75fe7f4ba46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276df0334d466b"/>
    <p:sldLayoutId xmlns:r="http://schemas.openxmlformats.org/officeDocument/2006/relationships" id="2147483650" r:id="R174cfb68b64c4910"/>
    <p:sldLayoutId xmlns:r="http://schemas.openxmlformats.org/officeDocument/2006/relationships" id="2147483651" r:id="R1c8c59a0db0d433a"/>
    <p:sldLayoutId xmlns:r="http://schemas.openxmlformats.org/officeDocument/2006/relationships" id="2147483652" r:id="R2dcc70f630f646e6"/>
    <p:sldLayoutId xmlns:r="http://schemas.openxmlformats.org/officeDocument/2006/relationships" id="2147483653" r:id="R867024344ea74889"/>
    <p:sldLayoutId xmlns:r="http://schemas.openxmlformats.org/officeDocument/2006/relationships" id="2147483654" r:id="R3bf75fe7f4ba46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f32e232d8a4e0f" /><Relationship Type="http://schemas.openxmlformats.org/officeDocument/2006/relationships/image" Target="/ppt/media/image.png" Id="Rc758e99676824b92" /><Relationship Type="http://schemas.openxmlformats.org/officeDocument/2006/relationships/notesSlide" Target="/ppt/notesSlides/notesSlide1.xml" Id="Re734b1641c1a46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f99333898c4165" /><Relationship Type="http://schemas.openxmlformats.org/officeDocument/2006/relationships/image" Target="/ppt/media/image2.png" Id="R7dbce094f80f4c97" /><Relationship Type="http://schemas.openxmlformats.org/officeDocument/2006/relationships/image" Target="/ppt/media/image3.png" Id="R6671dd84a4dd4fe7" /><Relationship Type="http://schemas.openxmlformats.org/officeDocument/2006/relationships/notesSlide" Target="/ppt/notesSlides/notesSlide2.xml" Id="R3ad7f80f644f46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3d598c98594a60" /><Relationship Type="http://schemas.openxmlformats.org/officeDocument/2006/relationships/notesSlide" Target="/ppt/notesSlides/notesSlide3.xml" Id="R1706a5934c5749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4e98d214ea424a" /><Relationship Type="http://schemas.openxmlformats.org/officeDocument/2006/relationships/image" Target="/ppt/media/image4.png" Id="R242e8f3296e04a87" /><Relationship Type="http://schemas.openxmlformats.org/officeDocument/2006/relationships/notesSlide" Target="/ppt/notesSlides/notesSlide4.xml" Id="Rf58cadff29fc45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c47ce18d384248" /><Relationship Type="http://schemas.openxmlformats.org/officeDocument/2006/relationships/image" Target="/ppt/media/image5.png" Id="R3115391eee554461" /><Relationship Type="http://schemas.openxmlformats.org/officeDocument/2006/relationships/notesSlide" Target="/ppt/notesSlides/notesSlide5.xml" Id="Rc6bb801b5fcd42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3bd21873a84a71" /><Relationship Type="http://schemas.openxmlformats.org/officeDocument/2006/relationships/notesSlide" Target="/ppt/notesSlides/notesSlide6.xml" Id="R91ddec06f3d748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9231452a4c4369" /><Relationship Type="http://schemas.openxmlformats.org/officeDocument/2006/relationships/notesSlide" Target="/ppt/notesSlides/notesSlide7.xml" Id="R376e34361b1541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c835b1a4244242" /><Relationship Type="http://schemas.openxmlformats.org/officeDocument/2006/relationships/notesSlide" Target="/ppt/notesSlides/notesSlide8.xml" Id="R6f40ad91ca734b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b07dbb0f91460c" /><Relationship Type="http://schemas.openxmlformats.org/officeDocument/2006/relationships/notesSlide" Target="/ppt/notesSlides/notesSlide9.xml" Id="Raee0e22ce0624e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e4ab669c3049a2" /><Relationship Type="http://schemas.openxmlformats.org/officeDocument/2006/relationships/notesSlide" Target="/ppt/notesSlides/notesSlide10.xml" Id="Rfe53e429023e43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16b01b80154538" /><Relationship Type="http://schemas.openxmlformats.org/officeDocument/2006/relationships/notesSlide" Target="/ppt/notesSlides/notesSlide11.xml" Id="Rcd7e791e324c4a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011af4b6d7484b" /><Relationship Type="http://schemas.openxmlformats.org/officeDocument/2006/relationships/image" Target="/ppt/media/image6.png" Id="Rad385082b2844842" /><Relationship Type="http://schemas.openxmlformats.org/officeDocument/2006/relationships/notesSlide" Target="/ppt/notesSlides/notesSlide12.xml" Id="R7d2f9d4877f84c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9a0efee67c4eae" /><Relationship Type="http://schemas.openxmlformats.org/officeDocument/2006/relationships/notesSlide" Target="/ppt/notesSlides/notesSlide13.xml" Id="R8b2352b3e10949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BFD80-D4DB-4F43-BBA8-A4F967D07E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8e99676824b92"/>
          <a:srcRect xmlns:a="http://schemas.openxmlformats.org/drawingml/2006/main" l="23382" t="0" r="233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oundRect">
            <a:avLst>
              <a:gd name="adj" fmla="val 2143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41ADC-A6C9-4052-8389-6199D902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657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6A36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REPORTE TÉCNICO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874F6-6C91-4706-9EE6-96D0FB5A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561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Análisis de seguridad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OWASP ZAP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60FAF-491B-49C9-9A26-8E927684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20B8CD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B8CD"/>
                </a:solidFill>
              </a:defRPr>
            </a:pPr>
            <a:r>
              <a:rPr sz="1950" b="1">
                <a:solidFill>
                  <a:srgbClr val="20B8CD"/>
                </a:solidFill>
              </a:rPr>
              <a:t>Corazones Limeños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444D7-43D7-4E9F-BD1C-23E0DD87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D5E3EC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5E3EC"/>
                </a:solidFill>
              </a:defRPr>
            </a:pPr>
            <a:r>
              <a:rPr sz="1650" b="0">
                <a:solidFill>
                  <a:srgbClr val="D5E3EC"/>
                </a:solidFill>
              </a:rPr>
              <a:t>Interpretación de códigos, impacto técnico y plan de remediación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EBFE6-2AEB-4C12-9855-1A64F219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8EAABD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8EAABD"/>
                </a:solidFill>
              </a:defRPr>
            </a:pPr>
            <a:r>
              <a:rPr sz="1125" b="1">
                <a:solidFill>
                  <a:srgbClr val="8EAABD"/>
                </a:solidFill>
              </a:rPr>
              <a:t>Angular  ·  API PHP  ·  MySQL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222DB-AA2E-4B2F-9238-05188EC0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Escaneo: 12 de octubre de 2026  |  ZAP 2.15.0</a:t>
            </a:r>
          </a:p>
        </p:txBody>
      </p:sp>
    </p:spTree>
    <p:extLst>
      <p:ext uri="{BB962C8B-B14F-4D97-AF65-F5344CB8AC3E}">
        <p14:creationId xmlns:p14="http://schemas.microsoft.com/office/powerpoint/2010/main" val="1245651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070A1-CD90-48BB-9CA4-D2DDD122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75E9E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75E9E"/>
                </a:solidFill>
              </a:defRPr>
            </a:pPr>
            <a:r>
              <a:rPr sz="975" b="1">
                <a:solidFill>
                  <a:srgbClr val="075E9E"/>
                </a:solidFill>
              </a:rPr>
              <a:t>01  EVIDENCIA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67C5C-BCE8-4EF5-8B5B-CBB3674C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12F"/>
                </a:solidFill>
              </a:defRPr>
            </a:pPr>
            <a:r>
              <a:rPr sz="2550" b="1">
                <a:solidFill>
                  <a:srgbClr val="12212F"/>
                </a:solidFill>
              </a:rPr>
              <a:t>Alcance y resultado del escaneo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99B74-0A47-45B3-9867-A272221D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95AA2-AD31-46E2-A858-C95F683A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071A2B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71A2B"/>
                </a:solidFill>
              </a:defRPr>
            </a:pPr>
            <a:r>
              <a:rPr sz="975" b="1">
                <a:solidFill>
                  <a:srgbClr val="071A2B"/>
                </a:solidFill>
              </a:rPr>
              <a:t>2 ALERTAS MEDIAS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2A8E7-F023-4514-B88C-45EAA909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62100"/>
            <a:ext cx="1047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6A36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 ALTAS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C8EA2-3F5B-4940-9DEE-8521F271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2212F"/>
                </a:solidFill>
              </a:defRPr>
            </a:pPr>
            <a:r>
              <a:rPr sz="2025" b="1">
                <a:solidFill>
                  <a:srgbClr val="12212F"/>
                </a:solidFill>
              </a:rPr>
              <a:t>ZAP analizó dos superficies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6A3E0-4FDC-475F-8E1F-1256042F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09002-47E1-4950-9DDB-8A23C7F8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765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75E9E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75E9E"/>
                </a:solidFill>
              </a:defRPr>
            </a:pPr>
            <a:r>
              <a:rPr sz="1125" b="1">
                <a:solidFill>
                  <a:srgbClr val="075E9E"/>
                </a:solidFill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FD135-BA13-4872-A858-90090138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322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2212F"/>
                </a:solidFill>
              </a:defRPr>
            </a:pPr>
            <a:r>
              <a:rPr sz="1425" b="0">
                <a:solidFill>
                  <a:srgbClr val="12212F"/>
                </a:solidFill>
              </a:rPr>
              <a:t>http://10.242.146.148:4200</a:t>
            </a:r>
          </a:p>
          <a:p xmlns:a="http://schemas.openxmlformats.org/drawingml/2006/main">
            <a:pPr algn="l">
              <a:defRPr sz="1425" b="0">
                <a:solidFill>
                  <a:srgbClr val="12212F"/>
                </a:solidFill>
              </a:defRPr>
            </a:pPr>
            <a:r>
              <a:rPr sz="1425" b="0">
                <a:solidFill>
                  <a:srgbClr val="12212F"/>
                </a:solidFill>
              </a:rPr>
              <a:t>Aplicación Angular ejecutada con el servidor de desarrollo.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D967D-C852-4E62-8B94-48CFC43C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2C721-FA4A-490E-9A6C-6B56CD6B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909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6A36A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6A36A"/>
                </a:solidFill>
              </a:defRPr>
            </a:pPr>
            <a:r>
              <a:rPr sz="1125" b="1">
                <a:solidFill>
                  <a:srgbClr val="16A36A"/>
                </a:solidFill>
              </a:rPr>
              <a:t>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90719-AF93-4A72-814D-D1EDC272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2212F"/>
                </a:solidFill>
              </a:defRPr>
            </a:pPr>
            <a:r>
              <a:rPr sz="1425" b="0">
                <a:solidFill>
                  <a:srgbClr val="12212F"/>
                </a:solidFill>
              </a:rPr>
              <a:t>http://10.242.146.148:8081</a:t>
            </a:r>
          </a:p>
          <a:p xmlns:a="http://schemas.openxmlformats.org/drawingml/2006/main">
            <a:pPr algn="l">
              <a:defRPr sz="1425" b="0">
                <a:solidFill>
                  <a:srgbClr val="12212F"/>
                </a:solidFill>
              </a:defRPr>
            </a:pPr>
            <a:r>
              <a:rPr sz="1425" b="0">
                <a:solidFill>
                  <a:srgbClr val="12212F"/>
                </a:solidFill>
              </a:rPr>
              <a:t>Servicio PHP conectado a MySQL.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7E666-6AFB-4013-A423-32DDD02D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462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C6B78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B78"/>
                </a:solidFill>
              </a:defRPr>
            </a:pPr>
            <a:r>
              <a:rPr sz="1350" b="0">
                <a:solidFill>
                  <a:srgbClr val="5C6B78"/>
                </a:solidFill>
              </a:rPr>
              <a:t>El reporte incluyó niveles High y Medium. Por eso los hallazgos informativos pueden aparecer como etiquetas en ZAP sin aumentar el total de alertas del informe.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0D0C9-2397-41E7-A544-F4C5B88319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ce094f80f4c97"/>
          <a:stretch xmlns:a="http://schemas.openxmlformats.org/drawingml/2006/main"/>
        </p:blipFill>
        <p:spPr>
          <a:xfrm xmlns:a="http://schemas.openxmlformats.org/drawingml/2006/main">
            <a:off x="6840268" y="1543050"/>
            <a:ext cx="3369214" cy="2428875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375A1-84D7-4FC8-BC03-4FAD08E2A6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1dd84a4dd4fe7"/>
          <a:stretch xmlns:a="http://schemas.openxmlformats.org/drawingml/2006/main"/>
        </p:blipFill>
        <p:spPr>
          <a:xfrm xmlns:a="http://schemas.openxmlformats.org/drawingml/2006/main">
            <a:off x="6995900" y="4171950"/>
            <a:ext cx="3057950" cy="1952625"/>
          </a:xfrm>
          <a:prstGeom xmlns:a="http://schemas.openxmlformats.org/drawingml/2006/main" prst="roundRect">
            <a:avLst>
              <a:gd name="adj" fmla="val 5854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B4DF3-7834-4AE8-81C4-A176EFCD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9909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79909F"/>
                </a:solidFill>
              </a:defRPr>
            </a:pPr>
            <a:r>
              <a:rPr sz="750" b="1">
                <a:solidFill>
                  <a:srgbClr val="79909F"/>
                </a:solidFill>
              </a:rPr>
              <a:t>CORAZONES LIMEÑOS  ·  ANÁLISIS OWASP ZAP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B419D-FA37-47AC-AD7D-F43868F3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075E9E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075E9E"/>
                </a:solidFill>
              </a:defRPr>
            </a:pPr>
            <a:r>
              <a:rPr sz="825" b="1">
                <a:solidFill>
                  <a:srgbClr val="075E9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41482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9DB68-6713-45D2-B812-485F0AF2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75E9E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75E9E"/>
                </a:solidFill>
              </a:defRPr>
            </a:pPr>
            <a:r>
              <a:rPr sz="975" b="1">
                <a:solidFill>
                  <a:srgbClr val="075E9E"/>
                </a:solidFill>
              </a:rPr>
              <a:t>02  TAXONOMÍAS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C709F-EA02-4440-B842-DFD588D5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12F"/>
                </a:solidFill>
              </a:defRPr>
            </a:pPr>
            <a:r>
              <a:rPr sz="2550" b="1">
                <a:solidFill>
                  <a:srgbClr val="12212F"/>
                </a:solidFill>
              </a:rPr>
              <a:t>Cómo leer los códigos del reporte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E1840-698D-457E-838D-B14BE020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51E6B-182B-41A3-BA11-1D40752F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5C6B78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C6B78"/>
                </a:solidFill>
              </a:defRPr>
            </a:pPr>
            <a:r>
              <a:rPr sz="1575" b="0">
                <a:solidFill>
                  <a:srgbClr val="5C6B78"/>
                </a:solidFill>
              </a:rPr>
              <a:t>Una alerta puede tener varias etiquetas porque cada estándar describe una capa distinta del mismo problema.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F1CE4-1266-4606-9811-61772832284A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476500"/>
                <a:gridCol w="3486150"/>
                <a:gridCol w="3390900"/>
              </a:tblGrid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Familia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T w="9525">
                      <a:solidFill>
                        <a:srgbClr val="CCD9E2"/>
                      </a:solidFill>
                      <a:prstDash val="solid"/>
                    </a:lnT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075E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Qué clasifica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CD9E2"/>
                      </a:solidFill>
                      <a:prstDash val="solid"/>
                    </a:lnR>
                    <a:lnT w="9525">
                      <a:solidFill>
                        <a:srgbClr val="CCD9E2"/>
                      </a:solidFill>
                      <a:prstDash val="solid"/>
                    </a:lnT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075E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Ejemplo del reporte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CD9E2"/>
                      </a:solidFill>
                      <a:prstDash val="solid"/>
                    </a:lnR>
                    <a:lnT w="9525">
                      <a:solidFill>
                        <a:srgbClr val="CCD9E2"/>
                      </a:solidFill>
                      <a:prstDash val="solid"/>
                    </a:lnT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075E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Lectura correcta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CD9E2"/>
                      </a:solidFill>
                      <a:prstDash val="solid"/>
                    </a:lnR>
                    <a:lnT w="9525">
                      <a:solidFill>
                        <a:srgbClr val="CCD9E2"/>
                      </a:solidFill>
                      <a:prstDash val="solid"/>
                    </a:lnT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075E9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OWASP Top 10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Categoría de riesgo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A05:2021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Agrupa fallas de configuración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WSTG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Caso de prueba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WSTG-v42-CLNT-09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Indica qué prueba aplicar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CWE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Debilidad de software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CWE-1021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Describe la causa técnica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WASC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Clase histórica de amenaza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WASC-15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Relaciona el hallazgo con configuración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20CB6-905D-4680-A1D9-5A8FD2D6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DDF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9775C-A76D-4906-BDD7-CBF762B3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292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A36A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6A36A"/>
                </a:solidFill>
              </a:defRPr>
            </a:pPr>
            <a:r>
              <a:rPr sz="1050" b="1">
                <a:solidFill>
                  <a:srgbClr val="16A36A"/>
                </a:solidFill>
              </a:rPr>
              <a:t>Regla de lectura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AD97C-47F9-44E8-A8C6-54D254FB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91175"/>
            <a:ext cx="881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212F"/>
                </a:solidFill>
              </a:defRPr>
            </a:pPr>
            <a:r>
              <a:rPr sz="1425" b="1">
                <a:solidFill>
                  <a:srgbClr val="12212F"/>
                </a:solidFill>
              </a:rPr>
              <a:t>CSP ausente = 1 hallazgo con varias clasificaciones. No se suman CWE + OWASP + WSTG como vulnerabilidades distintas.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C904A-9760-4239-B482-18B69D1C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9909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79909F"/>
                </a:solidFill>
              </a:defRPr>
            </a:pPr>
            <a:r>
              <a:rPr sz="750" b="1">
                <a:solidFill>
                  <a:srgbClr val="79909F"/>
                </a:solidFill>
              </a:rPr>
              <a:t>CORAZONES LIMEÑOS  ·  ANÁLISIS OWASP ZAP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68829-04F7-4D56-B5AE-9943FB88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075E9E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075E9E"/>
                </a:solidFill>
              </a:defRPr>
            </a:pPr>
            <a:r>
              <a:rPr sz="825" b="1">
                <a:solidFill>
                  <a:srgbClr val="075E9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803750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0D46A-DBB6-42A5-A30A-C6CD5F51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0B8CD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0B8CD"/>
                </a:solidFill>
              </a:defRPr>
            </a:pPr>
            <a:r>
              <a:rPr sz="975" b="1">
                <a:solidFill>
                  <a:srgbClr val="20B8CD"/>
                </a:solidFill>
              </a:rPr>
              <a:t>03  RIESGO MEDIO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E6814-20B1-4E3F-B28D-FDAFE1EA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Hallazgo 1: Content Security Policy ausente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BFDC0-5656-4143-A976-E9100800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42C5E-6886-4A46-8567-CCBF8A97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6954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44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CONFIANZA ALTA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1D39F-7144-4EBB-8E01-7A3CE6CA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80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20B8CD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0B8CD"/>
                </a:solidFill>
              </a:defRPr>
            </a:pPr>
            <a:r>
              <a:rPr sz="2325" b="1">
                <a:solidFill>
                  <a:srgbClr val="20B8CD"/>
                </a:solidFill>
              </a:rPr>
              <a:t>CWE-693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A3DE9-FF4F-48DB-A88E-D5C6AAED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Falla del mecanismo de protección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6F0C6-8C66-43F2-93AF-E8A63E68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8057A-A4AC-4261-8C62-8746AFFB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20B8CD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0B8CD"/>
                </a:solidFill>
              </a:defRPr>
            </a:pPr>
            <a:r>
              <a:rPr sz="1125" b="1">
                <a:solidFill>
                  <a:srgbClr val="20B8CD"/>
                </a:solidFill>
              </a:rPr>
              <a:t>Qué significa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FD981-BFC4-430F-9461-92463100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438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D7E3EA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7E3EA"/>
                </a:solidFill>
              </a:defRPr>
            </a:pPr>
            <a:r>
              <a:rPr sz="1425" b="0">
                <a:solidFill>
                  <a:srgbClr val="D7E3EA"/>
                </a:solidFill>
              </a:rPr>
              <a:t>El servidor no envía una política que limite scripts, estilos, imágenes y conexiones permitidas por el navegador.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6C778-C364-4837-AAC8-70E9D394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DD238-F066-40D9-8826-67B115EA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5B942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5B942"/>
                </a:solidFill>
              </a:defRPr>
            </a:pPr>
            <a:r>
              <a:rPr sz="1125" b="1">
                <a:solidFill>
                  <a:srgbClr val="F5B942"/>
                </a:solidFill>
              </a:rPr>
              <a:t>Impacto en el sistema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7E87A-0415-46B2-A122-B8AF8D76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D7E3EA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7E3EA"/>
                </a:solidFill>
              </a:defRPr>
            </a:pPr>
            <a:r>
              <a:rPr sz="1425" b="0">
                <a:solidFill>
                  <a:srgbClr val="D7E3EA"/>
                </a:solidFill>
              </a:rPr>
              <a:t>Una inyección XSS tendría mayor libertad para ejecutar código, leer el DOM o enviar datos a un dominio externo.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B6061-2DD7-423A-9E86-81A50E8E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AFC4D2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FC4D2"/>
                </a:solidFill>
              </a:defRPr>
            </a:pPr>
            <a:r>
              <a:rPr sz="1200" b="0">
                <a:solidFill>
                  <a:srgbClr val="AFC4D2"/>
                </a:solidFill>
              </a:rPr>
              <a:t>CSP funciona como defensa adicional. Su ausencia no demuestra por sí sola que exista XSS.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DD8E3-C09C-4723-8B65-00F94FA293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e8f3296e04a87"/>
          <a:stretch xmlns:a="http://schemas.openxmlformats.org/drawingml/2006/main"/>
        </p:blipFill>
        <p:spPr>
          <a:xfrm xmlns:a="http://schemas.openxmlformats.org/drawingml/2006/main">
            <a:off x="5780098" y="1647825"/>
            <a:ext cx="5680054" cy="417195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A3A00-C404-4320-85B4-398C0322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88A3B8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88A3B8"/>
                </a:solidFill>
              </a:defRPr>
            </a:pPr>
            <a:r>
              <a:rPr sz="750" b="1">
                <a:solidFill>
                  <a:srgbClr val="88A3B8"/>
                </a:solidFill>
              </a:rPr>
              <a:t>CORAZONES LIMEÑOS  ·  ANÁLISIS OWASP ZAP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E311F6-3CBA-4ED7-8C54-72E0B3C9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66521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32F1C-67B3-40D7-B422-AEE17D81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75E9E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75E9E"/>
                </a:solidFill>
              </a:defRPr>
            </a:pPr>
            <a:r>
              <a:rPr sz="975" b="1">
                <a:solidFill>
                  <a:srgbClr val="075E9E"/>
                </a:solidFill>
              </a:rPr>
              <a:t>04  RIESGO MEDIO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3845B-7802-43AF-9DCF-352B5AED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12F"/>
                </a:solidFill>
              </a:defRPr>
            </a:pPr>
            <a:r>
              <a:rPr sz="2550" b="1">
                <a:solidFill>
                  <a:srgbClr val="12212F"/>
                </a:solidFill>
              </a:rPr>
              <a:t>Hallazgo 2: protección anti-clickjacking ausente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3D3BD-4FB1-42D4-B96C-A37AB18E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B89FF-8784-4260-B6F2-11BE4A8872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5391eee554461"/>
          <a:stretch xmlns:a="http://schemas.openxmlformats.org/drawingml/2006/main"/>
        </p:blipFill>
        <p:spPr>
          <a:xfrm xmlns:a="http://schemas.openxmlformats.org/drawingml/2006/main">
            <a:off x="609600" y="1627730"/>
            <a:ext cx="5334000" cy="2354766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FC0EC-75EB-4A5C-AA02-81F71DA7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75E9E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75E9E"/>
                </a:solidFill>
              </a:defRPr>
            </a:pPr>
            <a:r>
              <a:rPr sz="2325" b="1">
                <a:solidFill>
                  <a:srgbClr val="075E9E"/>
                </a:solidFill>
              </a:rPr>
              <a:t>CWE-1021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C4822-9C94-4398-B7CC-1F8BF641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2212F"/>
                </a:solidFill>
              </a:defRPr>
            </a:pPr>
            <a:r>
              <a:rPr sz="1575" b="1">
                <a:solidFill>
                  <a:srgbClr val="12212F"/>
                </a:solidFill>
              </a:rPr>
              <a:t>Restricción incorrecta de marcos o capas de interfaz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5D324-62C1-4AA1-9AAF-0C01E2BE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4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8A792-8997-4ECE-B3ED-E811DF74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D4483B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D4483B"/>
                </a:solidFill>
              </a:defRPr>
            </a:pPr>
            <a:r>
              <a:rPr sz="1125" b="1">
                <a:solidFill>
                  <a:srgbClr val="D4483B"/>
                </a:solidFill>
              </a:rPr>
              <a:t>Escenario de ataque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62496-6CED-4C7B-9EB8-90237140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4572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2212F"/>
                </a:solidFill>
              </a:defRPr>
            </a:pPr>
            <a:r>
              <a:rPr sz="1425" b="0">
                <a:solidFill>
                  <a:srgbClr val="12212F"/>
                </a:solidFill>
              </a:rPr>
              <a:t>Un sitio malicioso carga Corazones Limeños dentro de un iframe transparente y coloca controles falsos sobre los botones reales.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D1174-1526-4CFC-8602-A6CD4406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814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548D9-9F45-4651-9BFB-0D802C44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814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5B942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5B942"/>
                </a:solidFill>
              </a:defRPr>
            </a:pPr>
            <a:r>
              <a:rPr sz="1125" b="1">
                <a:solidFill>
                  <a:srgbClr val="F5B942"/>
                </a:solidFill>
              </a:rPr>
              <a:t>Impacto posible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D1336-F7B0-42E4-8941-0A3D3280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481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2212F"/>
                </a:solidFill>
              </a:defRPr>
            </a:pPr>
            <a:r>
              <a:rPr sz="1425" b="0">
                <a:solidFill>
                  <a:srgbClr val="12212F"/>
                </a:solidFill>
              </a:rPr>
              <a:t>Un usuario autenticado podría confirmar una entrega, aprobar un albergue o ejecutar otra acción sin comprender el clic real.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6A3AF-7A4D-4059-AA97-6112820E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5334000" cy="126682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DDF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9EB97-DDB0-41DC-947F-4EE3AEE9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6A36A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6A36A"/>
                </a:solidFill>
              </a:defRPr>
            </a:pPr>
            <a:r>
              <a:rPr sz="1125" b="1">
                <a:solidFill>
                  <a:srgbClr val="16A36A"/>
                </a:solidFill>
              </a:rPr>
              <a:t>Control recomendado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AC9E9-9994-4693-AA4B-13A09F36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481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212F"/>
                </a:solidFill>
              </a:defRPr>
            </a:pPr>
            <a:r>
              <a:rPr sz="1350" b="1">
                <a:solidFill>
                  <a:srgbClr val="12212F"/>
                </a:solidFill>
              </a:rPr>
              <a:t>Content-Security-Policy: frame-ancestors 'none'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82CBF-0B2A-42CF-8E85-91C1EF3F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481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C6B7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6B78"/>
                </a:solidFill>
              </a:defRPr>
            </a:pPr>
            <a:r>
              <a:rPr sz="1200" b="0">
                <a:solidFill>
                  <a:srgbClr val="5C6B78"/>
                </a:solidFill>
              </a:rPr>
              <a:t>Compatibilidad heredada: X-Frame-Options: DENY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C32C7-0019-42CB-884A-AFE08B1F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9909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79909F"/>
                </a:solidFill>
              </a:defRPr>
            </a:pPr>
            <a:r>
              <a:rPr sz="750" b="1">
                <a:solidFill>
                  <a:srgbClr val="79909F"/>
                </a:solidFill>
              </a:rPr>
              <a:t>CORAZONES LIMEÑOS  ·  ANÁLISIS OWASP ZAP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45F32-FFCE-4219-9F0A-B2C51EDE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075E9E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075E9E"/>
                </a:solidFill>
              </a:defRPr>
            </a:pPr>
            <a:r>
              <a:rPr sz="825" b="1">
                <a:solidFill>
                  <a:srgbClr val="075E9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661679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561BF-B20C-495B-B5AD-BED14CF7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75E9E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75E9E"/>
                </a:solidFill>
              </a:defRPr>
            </a:pPr>
            <a:r>
              <a:rPr sz="975" b="1">
                <a:solidFill>
                  <a:srgbClr val="075E9E"/>
                </a:solidFill>
              </a:rPr>
              <a:t>05  DEBILIDADES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192B9-8D64-407D-A3A6-AA2C5393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12F"/>
                </a:solidFill>
              </a:defRPr>
            </a:pPr>
            <a:r>
              <a:rPr sz="2550" b="1">
                <a:solidFill>
                  <a:srgbClr val="12212F"/>
                </a:solidFill>
              </a:rPr>
              <a:t>CWE: significado e impacto técnico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581DA-5F61-4F8F-BC83-58C264B5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30DE7-ACA6-46C0-86D0-FFB5D598F141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048000"/>
                <a:gridCol w="3733800"/>
                <a:gridCol w="2762250"/>
              </a:tblGrid>
              <a:tr h="9239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Código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T w="9525">
                      <a:solidFill>
                        <a:srgbClr val="CCD9E2"/>
                      </a:solidFill>
                      <a:prstDash val="solid"/>
                    </a:lnT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075E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Definición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CD9E2"/>
                      </a:solidFill>
                      <a:prstDash val="solid"/>
                    </a:lnR>
                    <a:lnT w="9525">
                      <a:solidFill>
                        <a:srgbClr val="CCD9E2"/>
                      </a:solidFill>
                      <a:prstDash val="solid"/>
                    </a:lnT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075E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Efecto en Corazones Limeños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CD9E2"/>
                      </a:solidFill>
                      <a:prstDash val="solid"/>
                    </a:lnR>
                    <a:lnT w="9525">
                      <a:solidFill>
                        <a:srgbClr val="CCD9E2"/>
                      </a:solidFill>
                      <a:prstDash val="solid"/>
                    </a:lnT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075E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Tratamiento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CD9E2"/>
                      </a:solidFill>
                      <a:prstDash val="solid"/>
                    </a:lnR>
                    <a:lnT w="9525">
                      <a:solidFill>
                        <a:srgbClr val="CCD9E2"/>
                      </a:solidFill>
                      <a:prstDash val="solid"/>
                    </a:lnT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075E9E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CWE-693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Mecanismo de protección ausente o insuficiente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El navegador no recibe una política CSP que reduzca la superficie de ejecución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Configurar CSP en el servidor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CWE-1021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Restricción incorrecta de marcos o capas UI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La interfaz puede cargarse dentro de un iframe controlado por un tercero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frame-ancestors y X-Frame-Options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CWE-200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Exposición de información a un actor no autorizado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Errores, rutas o tecnología pueden facilitar reconocimiento y ataques posteriores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Mensajes genéricos y logs internos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6CE67-BC2F-468B-B6F5-47277190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C6B78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B78"/>
                </a:solidFill>
              </a:defRPr>
            </a:pPr>
            <a:r>
              <a:rPr sz="1350" b="0">
                <a:solidFill>
                  <a:srgbClr val="5C6B78"/>
                </a:solidFill>
              </a:rPr>
              <a:t>CWE-693 es una categoría abstracta. CWE-1021 describe mejor el clickjacking. CWE-200 exige revisar qué dato concreto queda expuesto antes de confirmar severidad.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F962C-FE91-4064-9594-7B25E670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9909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79909F"/>
                </a:solidFill>
              </a:defRPr>
            </a:pPr>
            <a:r>
              <a:rPr sz="750" b="1">
                <a:solidFill>
                  <a:srgbClr val="79909F"/>
                </a:solidFill>
              </a:rPr>
              <a:t>CORAZONES LIMEÑOS  ·  ANÁLISIS OWASP ZAP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CBEFC-FF9D-4271-AE20-15860469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075E9E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075E9E"/>
                </a:solidFill>
              </a:defRPr>
            </a:pPr>
            <a:r>
              <a:rPr sz="825" b="1">
                <a:solidFill>
                  <a:srgbClr val="075E9E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313238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21FF2-0F18-4EDA-9DC1-31ABFBB0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75E9E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75E9E"/>
                </a:solidFill>
              </a:defRPr>
            </a:pPr>
            <a:r>
              <a:rPr sz="975" b="1">
                <a:solidFill>
                  <a:srgbClr val="075E9E"/>
                </a:solidFill>
              </a:rPr>
              <a:t>06  RIESGOS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E8647-E69A-4717-B416-16AD1B8A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12F"/>
                </a:solidFill>
              </a:defRPr>
            </a:pPr>
            <a:r>
              <a:rPr sz="2550" b="1">
                <a:solidFill>
                  <a:srgbClr val="12212F"/>
                </a:solidFill>
              </a:rPr>
              <a:t>OWASP Top 10: categorías y versiones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6AE5E-91D8-4BAD-9B2D-08E3064A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B2974-CD27-408B-ACBA-9C92035ED658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2714625"/>
                <a:gridCol w="3600450"/>
                <a:gridCol w="2705100"/>
              </a:tblGrid>
              <a:tr h="7353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Código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T w="9525">
                      <a:solidFill>
                        <a:srgbClr val="CCD9E2"/>
                      </a:solidFill>
                      <a:prstDash val="solid"/>
                    </a:lnT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075E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Nombre oficial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CD9E2"/>
                      </a:solidFill>
                      <a:prstDash val="solid"/>
                    </a:lnR>
                    <a:lnT w="9525">
                      <a:solidFill>
                        <a:srgbClr val="CCD9E2"/>
                      </a:solidFill>
                      <a:prstDash val="solid"/>
                    </a:lnT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075E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Relación con el sistema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CD9E2"/>
                      </a:solidFill>
                      <a:prstDash val="solid"/>
                    </a:lnR>
                    <a:lnT w="9525">
                      <a:solidFill>
                        <a:srgbClr val="CCD9E2"/>
                      </a:solidFill>
                      <a:prstDash val="solid"/>
                    </a:lnT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075E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Interpretación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CD9E2"/>
                      </a:solidFill>
                      <a:prstDash val="solid"/>
                    </a:lnR>
                    <a:lnT w="9525">
                      <a:solidFill>
                        <a:srgbClr val="CCD9E2"/>
                      </a:solidFill>
                      <a:prstDash val="solid"/>
                    </a:lnT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075E9E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A05:2021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Security Misconfiguration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Faltan cabeceras de seguridad y puede existir salida de error detallada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Categoría vigente en el reporte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A06:2017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Security Misconfiguration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Equivalente histórico de A05:2021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Etiqueta de compatibilidad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A01:2021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Broken Access Control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Riesgo si el servidor no valida rol, sesión y propiedad del registro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Se verifica en la API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A03:2017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Sensitive Data Exposure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Etiqueta histórica ligada a exposición de información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En 2021 evolucionó hacia fallas criptográficas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888A0-0042-45B4-8036-219597A8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F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332B3-3987-4964-A6BA-CC7FC78B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76900"/>
            <a:ext cx="1051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212F"/>
                </a:solidFill>
              </a:defRPr>
            </a:pPr>
            <a:r>
              <a:rPr sz="1425" b="1">
                <a:solidFill>
                  <a:srgbClr val="12212F"/>
                </a:solidFill>
              </a:rPr>
              <a:t>Las etiquetas 2017 y 2021 describen ediciones distintas del estándar. No duplican el número de hallazgos.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BFDFD-52A7-4375-849C-B1E53C0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9909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79909F"/>
                </a:solidFill>
              </a:defRPr>
            </a:pPr>
            <a:r>
              <a:rPr sz="750" b="1">
                <a:solidFill>
                  <a:srgbClr val="79909F"/>
                </a:solidFill>
              </a:rPr>
              <a:t>CORAZONES LIMEÑOS  ·  ANÁLISIS OWASP ZAP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F9F98-132A-475B-A943-AA36E088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075E9E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075E9E"/>
                </a:solidFill>
              </a:defRPr>
            </a:pPr>
            <a:r>
              <a:rPr sz="825" b="1">
                <a:solidFill>
                  <a:srgbClr val="075E9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620880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EB8C8-45D7-4ECC-9405-2E7753EE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75E9E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75E9E"/>
                </a:solidFill>
              </a:defRPr>
            </a:pPr>
            <a:r>
              <a:rPr sz="975" b="1">
                <a:solidFill>
                  <a:srgbClr val="075E9E"/>
                </a:solidFill>
              </a:rPr>
              <a:t>07  CASOS DE PRUEBA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F5387-B920-41C2-A436-63646216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12F"/>
                </a:solidFill>
              </a:defRPr>
            </a:pPr>
            <a:r>
              <a:rPr sz="2550" b="1">
                <a:solidFill>
                  <a:srgbClr val="12212F"/>
                </a:solidFill>
              </a:rPr>
              <a:t>WSTG v4.2: pruebas asociadas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DBEC5-F136-4702-9CE4-EC38065C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CA161-619D-41FB-8072-DC99E7B9DCEC}"/>
              </a:ext>
            </a:extLst>
          </p:cNvPr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381250"/>
                <a:gridCol w="3733800"/>
                <a:gridCol w="2190750"/>
              </a:tblGrid>
              <a:tr h="6826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Código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T w="9525">
                      <a:solidFill>
                        <a:srgbClr val="CCD9E2"/>
                      </a:solidFill>
                      <a:prstDash val="solid"/>
                    </a:lnT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075E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Prueba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CD9E2"/>
                      </a:solidFill>
                      <a:prstDash val="solid"/>
                    </a:lnR>
                    <a:lnT w="9525">
                      <a:solidFill>
                        <a:srgbClr val="CCD9E2"/>
                      </a:solidFill>
                      <a:prstDash val="solid"/>
                    </a:lnT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075E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Qué revisa en este proyecto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CD9E2"/>
                      </a:solidFill>
                      <a:prstDash val="solid"/>
                    </a:lnR>
                    <a:lnT w="9525">
                      <a:solidFill>
                        <a:srgbClr val="CCD9E2"/>
                      </a:solidFill>
                      <a:prstDash val="solid"/>
                    </a:lnT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075E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Riesgo principal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CD9E2"/>
                      </a:solidFill>
                      <a:prstDash val="solid"/>
                    </a:lnR>
                    <a:lnT w="9525">
                      <a:solidFill>
                        <a:srgbClr val="CCD9E2"/>
                      </a:solidFill>
                      <a:prstDash val="solid"/>
                    </a:lnT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075E9E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WSTG-v42-CLNT-09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Clickjacking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Si el frontend puede renderizarse dentro de un iframe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Acciones involuntarias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WSTG-v42-ERRH-01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Manejo de errores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Respuestas 4xx/5xx, mensajes y consistencia de la API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Reconocimiento interno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WSTG-v42-ERRH-02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Stack traces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Rutas, llamadas, SQL o componentes expuestos en excepciones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Facilita ataques dirigidos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WSTG-v42-INFO-05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Contenido y metadatos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Comentarios, secretos, rutas sensibles y source maps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Divulgación de información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WSTG-v42-INFO-08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Fingerprint del framework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Marcadores de Angular, PHP, cabeceras y estructura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Identificación tecnológica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A5E30-77EC-4843-986C-2D98DD33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C6B78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B78"/>
                </a:solidFill>
              </a:defRPr>
            </a:pPr>
            <a:r>
              <a:rPr sz="1350" b="0">
                <a:solidFill>
                  <a:srgbClr val="5C6B78"/>
                </a:solidFill>
              </a:rPr>
              <a:t>v42 significa versión 4.2. El código identifica un procedimiento de prueba reproducible, no una vulnerabilidad autónoma.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DA2A0-6748-40F1-A53B-CAF9F119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9909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79909F"/>
                </a:solidFill>
              </a:defRPr>
            </a:pPr>
            <a:r>
              <a:rPr sz="750" b="1">
                <a:solidFill>
                  <a:srgbClr val="79909F"/>
                </a:solidFill>
              </a:rPr>
              <a:t>CORAZONES LIMEÑOS  ·  ANÁLISIS OWASP ZAP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4EB17-6758-44EE-B276-6F5D4FB7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075E9E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075E9E"/>
                </a:solidFill>
              </a:defRPr>
            </a:pPr>
            <a:r>
              <a:rPr sz="825" b="1">
                <a:solidFill>
                  <a:srgbClr val="075E9E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239274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298165-7064-476C-9829-DC5698BE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0B8CD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0B8CD"/>
                </a:solidFill>
              </a:defRPr>
            </a:pPr>
            <a:r>
              <a:rPr sz="975" b="1">
                <a:solidFill>
                  <a:srgbClr val="20B8CD"/>
                </a:solidFill>
              </a:rPr>
              <a:t>08  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CC28B-FF68-42AE-AE48-95463FD4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Superficie de ataque del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4262D-5B30-44B3-8AB6-E1E177FD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31938-2869-4216-B520-EBBBDDE6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1145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D43"/>
          </a:solidFill>
          <a:ln xmlns:a="http://schemas.openxmlformats.org/drawingml/2006/main" w="9525">
            <a:solidFill>
              <a:srgbClr val="20B8C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Navegador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Sesión del usuario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DOM e interfaz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B38DA-CA50-45B5-B35A-0FD2F0AD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81250"/>
            <a:ext cx="21145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D43"/>
          </a:solidFill>
          <a:ln xmlns:a="http://schemas.openxmlformats.org/drawingml/2006/main" w="9525">
            <a:solidFill>
              <a:srgbClr val="075E9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Angular :4200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CSP y framing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Código cliente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838A8-D728-4DD4-8A71-33DA6455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81250"/>
            <a:ext cx="21145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D43"/>
          </a:solidFill>
          <a:ln xmlns:a="http://schemas.openxmlformats.org/drawingml/2006/main" w="9525">
            <a:solidFill>
              <a:srgbClr val="16A36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API PHP :8081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Sesión, roles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Errores y CORS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ADB7B-98BC-4EE1-B72B-B5B5919D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81250"/>
            <a:ext cx="21145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D43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MySQL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Usuarios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Donaciones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16530-9E55-4FB7-AB0A-02F27B4C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83845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89A7B8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89A7B8"/>
                </a:solidFill>
              </a:defRPr>
            </a:pPr>
            <a:r>
              <a:rPr sz="2100" b="1">
                <a:solidFill>
                  <a:srgbClr val="89A7B8"/>
                </a:solidFill>
              </a:rPr>
              <a:t>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23544-AB94-4553-8C28-9066A8A1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83845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89A7B8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89A7B8"/>
                </a:solidFill>
              </a:defRPr>
            </a:pPr>
            <a:r>
              <a:rPr sz="2100" b="1">
                <a:solidFill>
                  <a:srgbClr val="89A7B8"/>
                </a:solidFill>
              </a:rPr>
              <a:t>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05711-38D7-4522-A8C2-3ABB4866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3845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89A7B8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89A7B8"/>
                </a:solidFill>
              </a:defRPr>
            </a:pPr>
            <a:r>
              <a:rPr sz="2100" b="1">
                <a:solidFill>
                  <a:srgbClr val="89A7B8"/>
                </a:solidFill>
              </a:rPr>
              <a:t>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429316-F70E-438E-B893-FB00E6FC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413C8-D404-42CA-8382-7FACE5C4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20B8CD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0B8CD"/>
                </a:solidFill>
              </a:defRPr>
            </a:pPr>
            <a:r>
              <a:rPr sz="1125" b="1">
                <a:solidFill>
                  <a:srgbClr val="20B8CD"/>
                </a:solidFill>
              </a:rPr>
              <a:t>CSP y clickjacking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7DFE17-3D1C-4BC0-91CC-B25FF335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461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D7E3EA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7E3EA"/>
                </a:solidFill>
              </a:defRPr>
            </a:pPr>
            <a:r>
              <a:rPr sz="1425" b="0">
                <a:solidFill>
                  <a:srgbClr val="D7E3EA"/>
                </a:solidFill>
              </a:rPr>
              <a:t>Afectan la respuesta entregada al navegador. El servidor web o proxy debe añadir las cabeceras.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38A37-DF43-4CCF-8DAD-3CE03C20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243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BEFCA-8069-4E01-86D5-9C5C2C02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243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6A36A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6A36A"/>
                </a:solidFill>
              </a:defRPr>
            </a:pPr>
            <a:r>
              <a:rPr sz="1125" b="1">
                <a:solidFill>
                  <a:srgbClr val="16A36A"/>
                </a:solidFill>
              </a:rPr>
              <a:t>Acceso e información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9DE4FE-F053-458D-8F26-2AA2EB00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91050"/>
            <a:ext cx="461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D7E3EA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7E3EA"/>
                </a:solidFill>
              </a:defRPr>
            </a:pPr>
            <a:r>
              <a:rPr sz="1425" b="0">
                <a:solidFill>
                  <a:srgbClr val="D7E3EA"/>
                </a:solidFill>
              </a:rPr>
              <a:t>La API debe validar sesión y rol, ocultar detalles internos y registrar el error en un log privado.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08124-7944-4AE9-964C-C9645057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B4C8D5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4C8D5"/>
                </a:solidFill>
              </a:defRPr>
            </a:pPr>
            <a:r>
              <a:rPr sz="1275" b="0">
                <a:solidFill>
                  <a:srgbClr val="B4C8D5"/>
                </a:solidFill>
              </a:rPr>
              <a:t>El escaneo se ejecutó contra un servidor de desarrollo. La configuración final debe probarse en el servidor que publicará la aplicación.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85817-A2D6-4209-ACC1-CE32EB3E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88A3B8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88A3B8"/>
                </a:solidFill>
              </a:defRPr>
            </a:pPr>
            <a:r>
              <a:rPr sz="750" b="1">
                <a:solidFill>
                  <a:srgbClr val="88A3B8"/>
                </a:solidFill>
              </a:rPr>
              <a:t>CORAZONES LIMEÑOS  ·  ANÁLISIS OWASP ZAP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80BFD-24CA-47BB-9BC2-A4B09F5C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770672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C67C1-2092-4E58-8D41-4E56A120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75E9E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75E9E"/>
                </a:solidFill>
              </a:defRPr>
            </a:pPr>
            <a:r>
              <a:rPr sz="975" b="1">
                <a:solidFill>
                  <a:srgbClr val="075E9E"/>
                </a:solidFill>
              </a:rPr>
              <a:t>09  DIAGNÓSTICO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74FE9-B403-4BA5-89DF-75649B83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12F"/>
                </a:solidFill>
              </a:defRPr>
            </a:pPr>
            <a:r>
              <a:rPr sz="2550" b="1">
                <a:solidFill>
                  <a:srgbClr val="12212F"/>
                </a:solidFill>
              </a:rPr>
              <a:t>Controles actuales y brechas observables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755CE-4CA5-4537-984F-2921CC2E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49C99-4494-4A71-87BE-D5AC33BDBA1A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333625"/>
                <a:gridCol w="5305425"/>
              </a:tblGrid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Control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T w="9525">
                      <a:solidFill>
                        <a:srgbClr val="CCD9E2"/>
                      </a:solidFill>
                      <a:prstDash val="solid"/>
                    </a:lnT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075E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CD9E2"/>
                      </a:solidFill>
                      <a:prstDash val="solid"/>
                    </a:lnR>
                    <a:lnT w="9525">
                      <a:solidFill>
                        <a:srgbClr val="CCD9E2"/>
                      </a:solidFill>
                      <a:prstDash val="solid"/>
                    </a:lnT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075E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Lectura técnica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CD9E2"/>
                      </a:solidFill>
                      <a:prstDash val="solid"/>
                    </a:lnR>
                    <a:lnT w="9525">
                      <a:solidFill>
                        <a:srgbClr val="CCD9E2"/>
                      </a:solidFill>
                      <a:prstDash val="solid"/>
                    </a:lnT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075E9E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Guards de rutas por rol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Implementado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DDF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Reduce navegación accidental hacia paneles ajenos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Autorización en API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Implementado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DDF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La API valida sesión, rol, propiedad y transición de estado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Cookie de sesión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Parcial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HttpOnly y SameSite=Strict; Secure permanece desactivado en HTTP local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CSP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Pendiente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E1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ZAP detectó que el frontend no envía Content-Security-Policy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Anti-clickjacking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Pendiente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E1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Faltan frame-ancestors y X-Frame-Options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Errores de base de datos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CCD9E2"/>
                      </a:solidFill>
                      <a:prstDash val="solid"/>
                    </a:lnL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Revisar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12F"/>
                          </a:solidFill>
                        </a:rPr>
                        <a:t>La respuesta 500 incluye detail; debe quedar solo en logs del servidor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CCD9E2"/>
                      </a:solidFill>
                      <a:prstDash val="solid"/>
                    </a:lnR>
                    <a:lnB w="9525">
                      <a:solidFill>
                        <a:srgbClr val="CC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9E4E3-B92D-4F35-9D99-343FBF14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212F"/>
                </a:solidFill>
              </a:defRPr>
            </a:pPr>
            <a:r>
              <a:rPr sz="1425" b="1">
                <a:solidFill>
                  <a:srgbClr val="12212F"/>
                </a:solidFill>
              </a:rPr>
              <a:t>Prioridad inmediata: cabeceras del frontend y sanitización de errores de la API.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A4354-800C-4630-91AF-48AD3277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9909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79909F"/>
                </a:solidFill>
              </a:defRPr>
            </a:pPr>
            <a:r>
              <a:rPr sz="750" b="1">
                <a:solidFill>
                  <a:srgbClr val="79909F"/>
                </a:solidFill>
              </a:rPr>
              <a:t>CORAZONES LIMEÑOS  ·  ANÁLISIS OWASP ZAP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15BE4-8FD6-4836-9C6A-F793F673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075E9E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075E9E"/>
                </a:solidFill>
              </a:defRPr>
            </a:pPr>
            <a:r>
              <a:rPr sz="825" b="1">
                <a:solidFill>
                  <a:srgbClr val="075E9E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81158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756017-4D39-4B70-A7EA-C87FB087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75E9E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75E9E"/>
                </a:solidFill>
              </a:defRPr>
            </a:pPr>
            <a:r>
              <a:rPr sz="975" b="1">
                <a:solidFill>
                  <a:srgbClr val="075E9E"/>
                </a:solidFill>
              </a:rPr>
              <a:t>10  ACCIÓN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A9352-C90B-4C88-BBE0-F36285CB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12F"/>
                </a:solidFill>
              </a:defRPr>
            </a:pPr>
            <a:r>
              <a:rPr sz="2550" b="1">
                <a:solidFill>
                  <a:srgbClr val="12212F"/>
                </a:solidFill>
              </a:rPr>
              <a:t>Plan de remediación priorizado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EA1BF-3624-4566-9118-296E1A97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1DA06-858A-406B-AF30-FBB5FD3B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4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769A4-66BC-4374-B36F-1CA68ECB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6573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2212F"/>
                </a:solidFill>
              </a:defRPr>
            </a:pPr>
            <a:r>
              <a:rPr sz="1650" b="1">
                <a:solidFill>
                  <a:srgbClr val="12212F"/>
                </a:solidFill>
              </a:rPr>
              <a:t>Cabeceras HTTP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F1F1A-F339-4260-9449-E234D1E2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895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C6B78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B78"/>
                </a:solidFill>
              </a:defRPr>
            </a:pPr>
            <a:r>
              <a:rPr sz="1350" b="0">
                <a:solidFill>
                  <a:srgbClr val="5C6B78"/>
                </a:solidFill>
              </a:rPr>
              <a:t>Añadir CSP con frame-ancestors 'none'. Mantener X-Frame-Options: DENY para navegadores heredados.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3FD1F-A732-4685-99B7-7EE70662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071A2B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71A2B"/>
                </a:solidFill>
              </a:defRPr>
            </a:pPr>
            <a:r>
              <a:rPr sz="2100" b="1">
                <a:solidFill>
                  <a:srgbClr val="071A2B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49ABE-3963-4199-8179-A93AE375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718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2212F"/>
                </a:solidFill>
              </a:defRPr>
            </a:pPr>
            <a:r>
              <a:rPr sz="1650" b="1">
                <a:solidFill>
                  <a:srgbClr val="12212F"/>
                </a:solidFill>
              </a:rPr>
              <a:t>Errores y despliegue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86F05-D669-4E2B-98AC-AF72FA94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14700"/>
            <a:ext cx="895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C6B78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B78"/>
                </a:solidFill>
              </a:defRPr>
            </a:pPr>
            <a:r>
              <a:rPr sz="1350" b="0">
                <a:solidFill>
                  <a:srgbClr val="5C6B78"/>
                </a:solidFill>
              </a:rPr>
              <a:t>Eliminar detail de respuestas públicas. Registrar excepciones en un log privado y publicar el build de producción.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50CD2-2A4F-47C3-9D78-471DDF84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A812C-1F40-44A7-ACD9-9143422B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862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2212F"/>
                </a:solidFill>
              </a:defRPr>
            </a:pPr>
            <a:r>
              <a:rPr sz="1650" b="1">
                <a:solidFill>
                  <a:srgbClr val="12212F"/>
                </a:solidFill>
              </a:rPr>
              <a:t>Validación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A2B47-38EC-4980-B0F7-05D8E2F3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29150"/>
            <a:ext cx="895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C6B78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B78"/>
                </a:solidFill>
              </a:defRPr>
            </a:pPr>
            <a:r>
              <a:rPr sz="1350" b="0">
                <a:solidFill>
                  <a:srgbClr val="5C6B78"/>
                </a:solidFill>
              </a:rPr>
              <a:t>Repetir spider y passive scan. Ejecutar un iframe de prueba y comprobar CSP desde DevTools o ZAP.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63BD3-4ACE-4C86-A991-C484A7D6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3822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FF2E9A-1019-43FA-BE50-776B6A4D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0B8CD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0B8CD"/>
                </a:solidFill>
              </a:defRPr>
            </a:pPr>
            <a:r>
              <a:rPr sz="1050" b="1">
                <a:solidFill>
                  <a:srgbClr val="20B8CD"/>
                </a:solidFill>
              </a:rPr>
              <a:t>Criterio de cierre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9ABD6-5C9C-4DD9-AAAA-154238A2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686425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 alertas medias por CSP o clickjacking en el entorno que se entregará.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63BBB-7249-4AEE-AC39-41BF4D98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9909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79909F"/>
                </a:solidFill>
              </a:defRPr>
            </a:pPr>
            <a:r>
              <a:rPr sz="750" b="1">
                <a:solidFill>
                  <a:srgbClr val="79909F"/>
                </a:solidFill>
              </a:rPr>
              <a:t>CORAZONES LIMEÑOS  ·  ANÁLISIS OWASP ZAP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E2CB8-8CEF-4F3E-A007-969E05C5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075E9E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075E9E"/>
                </a:solidFill>
              </a:defRPr>
            </a:pPr>
            <a:r>
              <a:rPr sz="825" b="1">
                <a:solidFill>
                  <a:srgbClr val="075E9E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32931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77BA51-3F58-4608-951D-974380F0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75E9E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75E9E"/>
                </a:solidFill>
              </a:defRPr>
            </a:pPr>
            <a:r>
              <a:rPr sz="975" b="1">
                <a:solidFill>
                  <a:srgbClr val="075E9E"/>
                </a:solidFill>
              </a:rPr>
              <a:t>11  EVIDENCIA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04056-0345-46E5-99EB-AAE8DE34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12F"/>
                </a:solidFill>
              </a:defRPr>
            </a:pPr>
            <a:r>
              <a:rPr sz="2550" b="1">
                <a:solidFill>
                  <a:srgbClr val="12212F"/>
                </a:solidFill>
              </a:rPr>
              <a:t>Validación posterior en ZAP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96059-E133-4544-B5B3-CB7A4B4E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A63A2-2752-4166-9220-C69B5F7CDC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85082b2844842"/>
          <a:stretch xmlns:a="http://schemas.openxmlformats.org/drawingml/2006/main"/>
        </p:blipFill>
        <p:spPr>
          <a:xfrm xmlns:a="http://schemas.openxmlformats.org/drawingml/2006/main">
            <a:off x="787168" y="1628775"/>
            <a:ext cx="4997913" cy="3524250"/>
          </a:xfrm>
          <a:prstGeom xmlns:a="http://schemas.openxmlformats.org/drawingml/2006/main" prst="roundRect">
            <a:avLst>
              <a:gd name="adj" fmla="val 324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E84F0-39E8-471E-9D19-1A18EA18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5524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5E9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1F745-1BBB-4642-B494-F1078204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573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212F"/>
                </a:solidFill>
              </a:defRPr>
            </a:pPr>
            <a:r>
              <a:rPr sz="1425" b="1">
                <a:solidFill>
                  <a:srgbClr val="12212F"/>
                </a:solidFill>
              </a:rPr>
              <a:t>Nuevo escaneo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A9F37-6548-430E-9C63-2E9CB05E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145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C6B7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6B78"/>
                </a:solidFill>
              </a:defRPr>
            </a:pPr>
            <a:r>
              <a:rPr sz="1200" b="0">
                <a:solidFill>
                  <a:srgbClr val="5C6B78"/>
                </a:solidFill>
              </a:rPr>
              <a:t>Borrar la sesión anterior y volver a explorar :4200 y :8081.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ADEAF-78C3-4FE6-8243-21F43D36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76525"/>
            <a:ext cx="5524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5E9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F057E-5206-459B-9D07-E9B6D452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574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212F"/>
                </a:solidFill>
              </a:defRPr>
            </a:pPr>
            <a:r>
              <a:rPr sz="1425" b="1">
                <a:solidFill>
                  <a:srgbClr val="12212F"/>
                </a:solidFill>
              </a:rPr>
              <a:t>Respuesta HTTP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A80F3-3A9F-4701-9A48-FEB89BBA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146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C6B7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6B78"/>
                </a:solidFill>
              </a:defRPr>
            </a:pPr>
            <a:r>
              <a:rPr sz="1200" b="0">
                <a:solidFill>
                  <a:srgbClr val="5C6B78"/>
                </a:solidFill>
              </a:rPr>
              <a:t>Confirmar CSP, frame-ancestors y X-Frame-Options en cada documento HTML.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A766F-59F7-49F7-9B77-1191576D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524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5E9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CCCC6-E0AC-4455-BA9C-AFD3DC82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57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212F"/>
                </a:solidFill>
              </a:defRPr>
            </a:pPr>
            <a:r>
              <a:rPr sz="1425" b="1">
                <a:solidFill>
                  <a:srgbClr val="12212F"/>
                </a:solidFill>
              </a:rPr>
              <a:t>Prueba funcional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51ADA-E20E-4A62-90CE-B84C1CD4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147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C6B7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6B78"/>
                </a:solidFill>
              </a:defRPr>
            </a:pPr>
            <a:r>
              <a:rPr sz="1200" b="0">
                <a:solidFill>
                  <a:srgbClr val="5C6B78"/>
                </a:solidFill>
              </a:rPr>
              <a:t>Verificar login, registro, paneles y solicitudes de la API después del endurecimiento.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63207-23E3-4674-AC88-DFE306EE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76775"/>
            <a:ext cx="5524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5E9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0ED72-B536-4E8E-8A1D-B80B2A1D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577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212F"/>
                </a:solidFill>
              </a:defRPr>
            </a:pPr>
            <a:r>
              <a:rPr sz="1425" b="1">
                <a:solidFill>
                  <a:srgbClr val="12212F"/>
                </a:solidFill>
              </a:rPr>
              <a:t>Evidencia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41B23-1BFB-44E1-8E4C-52AE5242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149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C6B7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6B78"/>
                </a:solidFill>
              </a:defRPr>
            </a:pPr>
            <a:r>
              <a:rPr sz="1200" b="0">
                <a:solidFill>
                  <a:srgbClr val="5C6B78"/>
                </a:solidFill>
              </a:rPr>
              <a:t>Exportar HTML y capturar el resumen con 0 alertas medias relacionadas.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564F7-9E8C-4D10-85C3-AA3AF4FF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53530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DF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F46BB-F4D3-4CAA-BB24-AD19080E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91175"/>
            <a:ext cx="493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2212F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2212F"/>
                </a:solidFill>
              </a:defRPr>
            </a:pPr>
            <a:r>
              <a:rPr sz="1275" b="1">
                <a:solidFill>
                  <a:srgbClr val="12212F"/>
                </a:solidFill>
              </a:rPr>
              <a:t>La captura final debe mostrar la reducción del riesgo y conservar la fecha, versión de ZAP y URL analizada.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6F40F-C964-40F1-896E-6B8B1D72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9909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79909F"/>
                </a:solidFill>
              </a:defRPr>
            </a:pPr>
            <a:r>
              <a:rPr sz="750" b="1">
                <a:solidFill>
                  <a:srgbClr val="79909F"/>
                </a:solidFill>
              </a:rPr>
              <a:t>CORAZONES LIMEÑOS  ·  ANÁLISIS OWASP ZAP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B99E63-4A9C-4286-BFBE-8161384F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075E9E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075E9E"/>
                </a:solidFill>
              </a:defRPr>
            </a:pPr>
            <a:r>
              <a:rPr sz="825" b="1">
                <a:solidFill>
                  <a:srgbClr val="075E9E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129277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7EA4EF-5158-4D78-A1B4-2A2A10DE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0B8CD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0B8CD"/>
                </a:solidFill>
              </a:defRPr>
            </a:pPr>
            <a:r>
              <a:rPr sz="975" b="1">
                <a:solidFill>
                  <a:srgbClr val="20B8CD"/>
                </a:solidFill>
              </a:rPr>
              <a:t>12  FUENTES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9732E-1C03-41C8-A2B1-52914AC1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Referencias técnicas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3D4ED-2BD8-46A2-84AE-A3005D14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340AA-2FE2-49A9-B1FB-54BFA884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20B8CD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B8CD"/>
                </a:solidFill>
              </a:defRPr>
            </a:pPr>
            <a:r>
              <a:rPr sz="1425" b="1">
                <a:solidFill>
                  <a:srgbClr val="20B8CD"/>
                </a:solidFill>
              </a:rPr>
              <a:t>OWASP Top 10 2021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65E74-F656-41E9-B9EC-3A9EE3CC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D1E0E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1E0E8"/>
                </a:solidFill>
              </a:defRPr>
            </a:pPr>
            <a:r>
              <a:rPr sz="1200" b="0">
                <a:solidFill>
                  <a:srgbClr val="D1E0E8"/>
                </a:solidFill>
              </a:rPr>
              <a:t>top10.owasp.org/2021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A7B8E-D073-49DF-B399-4D900F82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20B8CD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B8CD"/>
                </a:solidFill>
              </a:defRPr>
            </a:pPr>
            <a:r>
              <a:rPr sz="1425" b="1">
                <a:solidFill>
                  <a:srgbClr val="20B8CD"/>
                </a:solidFill>
              </a:rPr>
              <a:t>A01 Broken Access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82739-B8CE-4EFD-9C57-6DEC96BF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D1E0E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1E0E8"/>
                </a:solidFill>
              </a:defRPr>
            </a:pPr>
            <a:r>
              <a:rPr sz="1200" b="0">
                <a:solidFill>
                  <a:srgbClr val="D1E0E8"/>
                </a:solidFill>
              </a:rPr>
              <a:t>owasp.org/Top10/en/A01_2021-Broken_Access_Control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5A7C6-E5CA-4428-931A-7DACA111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20B8CD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B8CD"/>
                </a:solidFill>
              </a:defRPr>
            </a:pPr>
            <a:r>
              <a:rPr sz="1425" b="1">
                <a:solidFill>
                  <a:srgbClr val="20B8CD"/>
                </a:solidFill>
              </a:rPr>
              <a:t>A05 Security Misconfiguration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FDE7D-187F-4EC7-8C17-C9277681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D1E0E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1E0E8"/>
                </a:solidFill>
              </a:defRPr>
            </a:pPr>
            <a:r>
              <a:rPr sz="1200" b="0">
                <a:solidFill>
                  <a:srgbClr val="D1E0E8"/>
                </a:solidFill>
              </a:rPr>
              <a:t>owasp.org/Top10/en/A05_2021-Security_Misconfiguration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929C0-8040-4A7E-B7B2-228F9473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20B8CD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B8CD"/>
                </a:solidFill>
              </a:defRPr>
            </a:pPr>
            <a:r>
              <a:rPr sz="1425" b="1">
                <a:solidFill>
                  <a:srgbClr val="20B8CD"/>
                </a:solidFill>
              </a:rPr>
              <a:t>OWASP WSTG v4.2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861FE-B48B-4003-A8C8-7EC542CB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D1E0E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1E0E8"/>
                </a:solidFill>
              </a:defRPr>
            </a:pPr>
            <a:r>
              <a:rPr sz="1200" b="0">
                <a:solidFill>
                  <a:srgbClr val="D1E0E8"/>
                </a:solidFill>
              </a:rPr>
              <a:t>wstg.owasp.org/v4.2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8653F-FC02-449B-A958-3509D00D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3355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20B8CD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B8CD"/>
                </a:solidFill>
              </a:defRPr>
            </a:pPr>
            <a:r>
              <a:rPr sz="1425" b="1">
                <a:solidFill>
                  <a:srgbClr val="20B8CD"/>
                </a:solidFill>
              </a:rPr>
              <a:t>CWE-200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CE836-BD62-48EA-B73A-1C993A5E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288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D1E0E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1E0E8"/>
                </a:solidFill>
              </a:defRPr>
            </a:pPr>
            <a:r>
              <a:rPr sz="1200" b="0">
                <a:solidFill>
                  <a:srgbClr val="D1E0E8"/>
                </a:solidFill>
              </a:rPr>
              <a:t>cwe.mitre.org/data/definitions/200.html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DD121-A644-4319-B8EA-0F60E99C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0510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20B8CD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B8CD"/>
                </a:solidFill>
              </a:defRPr>
            </a:pPr>
            <a:r>
              <a:rPr sz="1425" b="1">
                <a:solidFill>
                  <a:srgbClr val="20B8CD"/>
                </a:solidFill>
              </a:rPr>
              <a:t>CWE-693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8284D-7421-479E-8254-973FA0CB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0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D1E0E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1E0E8"/>
                </a:solidFill>
              </a:defRPr>
            </a:pPr>
            <a:r>
              <a:rPr sz="1200" b="0">
                <a:solidFill>
                  <a:srgbClr val="D1E0E8"/>
                </a:solidFill>
              </a:rPr>
              <a:t>cwe.mitre.org/data/definitions/693.html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F2CD92-F085-4C3D-8B0B-BED8200E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7665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20B8CD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B8CD"/>
                </a:solidFill>
              </a:defRPr>
            </a:pPr>
            <a:r>
              <a:rPr sz="1425" b="1">
                <a:solidFill>
                  <a:srgbClr val="20B8CD"/>
                </a:solidFill>
              </a:rPr>
              <a:t>CWE-1021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648DB-421E-44EF-BE60-0880836A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719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D1E0E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1E0E8"/>
                </a:solidFill>
              </a:defRPr>
            </a:pPr>
            <a:r>
              <a:rPr sz="1200" b="0">
                <a:solidFill>
                  <a:srgbClr val="D1E0E8"/>
                </a:solidFill>
              </a:rPr>
              <a:t>cwe.mitre.org/data/definitions/1021.html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2117E-5540-4909-B734-40FFC146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4820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20B8CD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B8CD"/>
                </a:solidFill>
              </a:defRPr>
            </a:pPr>
            <a:r>
              <a:rPr sz="1425" b="1">
                <a:solidFill>
                  <a:srgbClr val="20B8CD"/>
                </a:solidFill>
              </a:rPr>
              <a:t>WASC-15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5B83D-E436-4F2A-B280-6EE4181C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434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D1E0E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1E0E8"/>
                </a:solidFill>
              </a:defRPr>
            </a:pPr>
            <a:r>
              <a:rPr sz="1200" b="0">
                <a:solidFill>
                  <a:srgbClr val="D1E0E8"/>
                </a:solidFill>
              </a:rPr>
              <a:t>projects.webappsec.org/.../Application Misconfiguration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25CA14-7CF6-441C-A444-E86870CC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591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3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29AA69-F5B4-4577-8180-1321B047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531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Evidencia principal: reporte ZAP 2.15.0 y capturas proporcionadas para Corazones Limeños.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F306E6-33B7-4F82-A5D5-0986CF45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88A3B8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88A3B8"/>
                </a:solidFill>
              </a:defRPr>
            </a:pPr>
            <a:r>
              <a:rPr sz="750" b="1">
                <a:solidFill>
                  <a:srgbClr val="88A3B8"/>
                </a:solidFill>
              </a:rPr>
              <a:t>CORAZONES LIMEÑOS  ·  ANÁLISIS OWASP ZAP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DE627C-CD34-4C4D-BE9E-671784DF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03798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2026-10-13T02:12:37.1590000Z</dcterms:created>
  <dcterms:modified xsi:type="dcterms:W3CDTF">2026-10-13T02:12:37.1590000Z</dcterms:modified>
</coreProperties>
</file>